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5596CC-9A40-4C7E-93F5-65CA29E3A6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802514-132D-4610-AEB8-5F5E73C50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2B8C11-FF8C-4E4E-B7BE-440A44CF3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AA388-A4CD-4675-9265-4959A6E4A246}" type="datetimeFigureOut">
              <a:rPr lang="zh-TW" altLang="en-US" smtClean="0"/>
              <a:t>2025/2/25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5C03D5-EE88-477C-881F-C5A6D0D41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E43789-AD56-49E7-805D-04ED56A1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C0311-2848-4D20-9F3D-7FB80ABBC1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7861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E97D60-BDD7-43B0-8AB4-49E8AAA77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87F9CF-6EA0-484D-9777-7537073EB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B9D8B5A-9450-4EB0-BCA6-A1149F190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AA388-A4CD-4675-9265-4959A6E4A246}" type="datetimeFigureOut">
              <a:rPr lang="zh-TW" altLang="en-US" smtClean="0"/>
              <a:t>2025/2/25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D6E4F03-B820-43DC-83AD-28B3CD5A6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1128B2-D1C1-4D15-90E8-9EF3CD6BE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C0311-2848-4D20-9F3D-7FB80ABBC1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1204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A82566-5908-44CE-9704-BD3615ED3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7C5E1BE-3F67-4FE5-886F-7F7FF2BC6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B444BC-6B2A-4839-AEAD-4FA83E05E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AA388-A4CD-4675-9265-4959A6E4A246}" type="datetimeFigureOut">
              <a:rPr lang="zh-TW" altLang="en-US" smtClean="0"/>
              <a:t>2025/2/25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44DE8A-7F4D-468F-864B-D9182332B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FCEB0C-A7BD-4037-9BD0-8012D61C6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C0311-2848-4D20-9F3D-7FB80ABBC1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7388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DE8EE1-E88E-4B7F-BFEC-D9272EF21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D12C14-9DE0-4EE7-A276-B3ADA35F57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595732E-2846-4A7E-895B-7158E8A10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4C04F06-F454-43C3-B230-45EACBBAB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AA388-A4CD-4675-9265-4959A6E4A246}" type="datetimeFigureOut">
              <a:rPr lang="zh-TW" altLang="en-US" smtClean="0"/>
              <a:t>2025/2/25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90BFF24-7979-4F31-AD03-B8FE04A1C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1943C88-A1D1-4672-A884-7EB2DBF86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C0311-2848-4D20-9F3D-7FB80ABBC1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2896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E35A72-5E78-4974-A58D-3462B9F47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5EED251-F245-4BBC-867F-0E32CD7FD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AFA663A-AD59-4658-9EC8-760745C2F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1750C6F-BA1C-4BAC-BB77-8B34A487D0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FA284C9-54BB-4E27-8AD7-DC80AFCE14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1C734B8-C05D-487C-A42B-13C3C6CE7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AA388-A4CD-4675-9265-4959A6E4A246}" type="datetimeFigureOut">
              <a:rPr lang="zh-TW" altLang="en-US" smtClean="0"/>
              <a:t>2025/2/25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E0D46D4-0502-4E1E-B632-062757358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DDA6352-9E5B-456E-A9D7-E2C597845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C0311-2848-4D20-9F3D-7FB80ABBC1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9024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122005-C5D4-4733-973B-9B37E3D4F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E0684B5-787B-48F1-A7F2-EC7658E42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AA388-A4CD-4675-9265-4959A6E4A246}" type="datetimeFigureOut">
              <a:rPr lang="zh-TW" altLang="en-US" smtClean="0"/>
              <a:t>2025/2/25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72D064E-1F3C-4F98-85F8-58D57EAE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7FD25CD-A80B-458D-AA21-FE8FACD6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C0311-2848-4D20-9F3D-7FB80ABBC1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742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4DAAA1A-5F39-4FFF-BFAB-3AF908AB9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AA388-A4CD-4675-9265-4959A6E4A246}" type="datetimeFigureOut">
              <a:rPr lang="zh-TW" altLang="en-US" smtClean="0"/>
              <a:t>2025/2/25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F39FE35-C788-4F86-9CBE-4123DDAD1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55CEE1-7DD5-4014-AF55-44FBCBB44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C0311-2848-4D20-9F3D-7FB80ABBC1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8318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515DCC-7694-41DE-BF91-F5B0AA1BD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CAD711-2E01-42BD-9F8B-E02029CD2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E49EF8B-4D86-497E-B777-4FDEE1E71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00000BC-6324-4DBC-9F06-67107471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AA388-A4CD-4675-9265-4959A6E4A246}" type="datetimeFigureOut">
              <a:rPr lang="zh-TW" altLang="en-US" smtClean="0"/>
              <a:t>2025/2/25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F9EBACC-4340-48EE-852E-20517CD59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6DCE988-E0F8-4CAB-AA08-A45479E4B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C0311-2848-4D20-9F3D-7FB80ABBC1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1854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0DAE63-4565-4E79-8DB0-B8A6AE6AB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706ECD6-E017-41C4-98B4-2D38B0B49F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A4982E3-1A4D-416B-A0F1-3DE1FF292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01562B8-85E4-4570-9BA2-521A47E77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AA388-A4CD-4675-9265-4959A6E4A246}" type="datetimeFigureOut">
              <a:rPr lang="zh-TW" altLang="en-US" smtClean="0"/>
              <a:t>2025/2/25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48B07E1-8323-4EFA-AAA8-60728AA96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3EA7F79-04C8-4A6D-9508-EF52D9E7A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C0311-2848-4D20-9F3D-7FB80ABBC1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1843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AF5CA6-5EF2-4B91-85A0-5291A3C1D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B3B47C1-32A8-484D-B90D-CCEE658D7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263BA2-918A-4668-AB06-9F86684CE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AA388-A4CD-4675-9265-4959A6E4A246}" type="datetimeFigureOut">
              <a:rPr lang="zh-TW" altLang="en-US" smtClean="0"/>
              <a:t>2025/2/25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E3D7B7A-666C-4EB4-A536-D8311AFB8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FD3B5F-3DDD-4228-B180-64C8BE429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C0311-2848-4D20-9F3D-7FB80ABBC1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7514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7DF0069-BE90-4E73-9E7B-B9600602EB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03949C9-61EE-49B2-8E67-EE50DCCA9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71E66D-9934-4D2A-A7C9-24107DF6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AA388-A4CD-4675-9265-4959A6E4A246}" type="datetimeFigureOut">
              <a:rPr lang="zh-TW" altLang="en-US" smtClean="0"/>
              <a:t>2025/2/25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258CAF-DE2D-48D1-9CA5-E74020C2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5DFE05-99AE-4AEA-8161-2C48A2C82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C0311-2848-4D20-9F3D-7FB80ABBC1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0172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FBAD95B-6A91-48F1-BF49-7697F0587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6D7434-C8F3-4088-95C5-78BF7FF43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9561A88-78D0-4793-96BC-AC7A9C94C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AA388-A4CD-4675-9265-4959A6E4A246}" type="datetimeFigureOut">
              <a:rPr lang="zh-TW" altLang="en-US" smtClean="0"/>
              <a:t>2025/2/25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7E0901A-71D5-42F0-875F-C995013472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8DF1C6-C504-45DF-BB91-848A74B59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C0311-2848-4D20-9F3D-7FB80ABBC1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9429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DC42F9-57F3-438E-95B3-6D17D0F626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程式設計實習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ACBAAEB-0A5E-4DA2-B6F0-003C2E49B3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2025.2.21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09856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EB01FCF-A9C9-4D1B-B40F-18BC58B95C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222" t="31316" r="32708" b="22470"/>
          <a:stretch/>
        </p:blipFill>
        <p:spPr>
          <a:xfrm>
            <a:off x="1981199" y="688258"/>
            <a:ext cx="7806268" cy="5786445"/>
          </a:xfrm>
          <a:prstGeom prst="rect">
            <a:avLst/>
          </a:prstGeom>
        </p:spPr>
      </p:pic>
      <p:sp>
        <p:nvSpPr>
          <p:cNvPr id="2" name="語音泡泡: 橢圓形 1">
            <a:extLst>
              <a:ext uri="{FF2B5EF4-FFF2-40B4-BE49-F238E27FC236}">
                <a16:creationId xmlns:a16="http://schemas.microsoft.com/office/drawing/2014/main" id="{40073972-8E1B-4E0B-B6F5-EC1C3F2AB735}"/>
              </a:ext>
            </a:extLst>
          </p:cNvPr>
          <p:cNvSpPr/>
          <p:nvPr/>
        </p:nvSpPr>
        <p:spPr>
          <a:xfrm>
            <a:off x="8932333" y="1303867"/>
            <a:ext cx="1659467" cy="524933"/>
          </a:xfrm>
          <a:prstGeom prst="wedgeEllipseCallout">
            <a:avLst>
              <a:gd name="adj1" fmla="val -80017"/>
              <a:gd name="adj2" fmla="val -213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r>
              <a:rPr lang="en-US" altLang="zh-TW" baseline="30000" dirty="0"/>
              <a:t>31</a:t>
            </a:r>
            <a:r>
              <a:rPr lang="en-US" altLang="zh-TW" dirty="0"/>
              <a:t>-1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1784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37398EB0-CD71-4A7A-97D8-C35E27948F00}"/>
              </a:ext>
            </a:extLst>
          </p:cNvPr>
          <p:cNvSpPr txBox="1"/>
          <p:nvPr/>
        </p:nvSpPr>
        <p:spPr>
          <a:xfrm>
            <a:off x="296333" y="181957"/>
            <a:ext cx="609600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#include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&lt;iostream&gt;</a:t>
            </a:r>
            <a:endParaRPr lang="en-US" altLang="zh-TW" sz="16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#include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&lt;vector&gt;</a:t>
            </a:r>
            <a:endParaRPr lang="en-US" altLang="zh-TW" sz="16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endParaRPr lang="zh-TW" altLang="en-US" sz="16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using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namespace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std;</a:t>
            </a:r>
          </a:p>
          <a:p>
            <a:endParaRPr lang="zh-TW" altLang="en-US" sz="16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main() {</a:t>
            </a:r>
          </a:p>
          <a:p>
            <a:r>
              <a:rPr lang="zh-TW" altLang="en-US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</a:t>
            </a:r>
          </a:p>
          <a:p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int input;</a:t>
            </a:r>
          </a:p>
          <a:p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</a:t>
            </a:r>
            <a:r>
              <a:rPr lang="en-US" altLang="zh-TW" sz="1600" dirty="0">
                <a:solidFill>
                  <a:srgbClr val="2B91A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vector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</a:t>
            </a:r>
            <a:r>
              <a:rPr lang="en-US" altLang="zh-TW" sz="16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 s;</a:t>
            </a:r>
          </a:p>
          <a:p>
            <a:endParaRPr lang="zh-TW" altLang="en-US" sz="16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</a:t>
            </a:r>
            <a:r>
              <a:rPr lang="en-US" altLang="zh-TW" sz="16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</a:t>
            </a:r>
            <a:r>
              <a:rPr lang="en-US" altLang="zh-TW" sz="16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cin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&gt;&gt;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input &amp;&amp; input) {</a:t>
            </a:r>
          </a:p>
          <a:p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6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"The parity of "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;</a:t>
            </a:r>
          </a:p>
          <a:p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6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count = 0;</a:t>
            </a:r>
          </a:p>
          <a:p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6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s.clear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6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(input != 0) {</a:t>
            </a:r>
            <a:endParaRPr lang="zh-TW" altLang="en-US" sz="16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    </a:t>
            </a:r>
            <a:r>
              <a:rPr lang="en-US" altLang="zh-TW" sz="16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s.push_back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(input % 2);</a:t>
            </a:r>
          </a:p>
          <a:p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    </a:t>
            </a:r>
            <a:r>
              <a:rPr lang="en-US" altLang="zh-TW" sz="16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(input % 2) count++;</a:t>
            </a:r>
          </a:p>
          <a:p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    input /= 2;</a:t>
            </a:r>
          </a:p>
          <a:p>
            <a:r>
              <a:rPr lang="zh-TW" altLang="en-US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</a:p>
          <a:p>
            <a:r>
              <a:rPr lang="nn-NO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nn-NO" altLang="zh-TW" sz="16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for</a:t>
            </a:r>
            <a:r>
              <a:rPr lang="nn-NO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</a:t>
            </a:r>
            <a:r>
              <a:rPr lang="nn-NO" altLang="zh-TW" sz="16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nn-NO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i=s.size() - 1; i &gt;= 0; i--)</a:t>
            </a:r>
          </a:p>
          <a:p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    </a:t>
            </a:r>
            <a:r>
              <a:rPr lang="en-US" altLang="zh-TW" sz="16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s</a:t>
            </a:r>
            <a:r>
              <a:rPr lang="en-US" altLang="zh-TW" sz="16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[</a:t>
            </a:r>
            <a:r>
              <a:rPr lang="en-US" altLang="zh-TW" sz="16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]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6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" is "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count </a:t>
            </a:r>
            <a:r>
              <a:rPr lang="en-US" altLang="zh-TW" sz="16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" (mod 2)."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;</a:t>
            </a:r>
          </a:p>
          <a:p>
            <a:r>
              <a:rPr lang="zh-TW" altLang="en-US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</a:t>
            </a:r>
            <a:r>
              <a:rPr lang="en-US" altLang="zh-TW" sz="16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0;</a:t>
            </a:r>
          </a:p>
          <a:p>
            <a:r>
              <a:rPr lang="en-US" altLang="zh-TW" sz="16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  <a:endParaRPr lang="zh-TW" altLang="en-US" sz="16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A31E7F8-DD50-42A7-BB54-BD4D06409844}"/>
              </a:ext>
            </a:extLst>
          </p:cNvPr>
          <p:cNvSpPr txBox="1"/>
          <p:nvPr/>
        </p:nvSpPr>
        <p:spPr>
          <a:xfrm>
            <a:off x="7848600" y="2871846"/>
            <a:ext cx="336126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1</a:t>
            </a:r>
          </a:p>
          <a:p>
            <a:r>
              <a:rPr lang="zh-TW" altLang="en-US" dirty="0"/>
              <a:t>The parity of 1 is 1 (mod 2).</a:t>
            </a:r>
          </a:p>
          <a:p>
            <a:r>
              <a:rPr lang="zh-TW" altLang="en-US" dirty="0"/>
              <a:t>2</a:t>
            </a:r>
          </a:p>
          <a:p>
            <a:r>
              <a:rPr lang="zh-TW" altLang="en-US" dirty="0"/>
              <a:t>The parity of 10 is 1 (mod 2).</a:t>
            </a:r>
          </a:p>
          <a:p>
            <a:r>
              <a:rPr lang="zh-TW" altLang="en-US" dirty="0"/>
              <a:t>10</a:t>
            </a:r>
          </a:p>
          <a:p>
            <a:r>
              <a:rPr lang="zh-TW" altLang="en-US" dirty="0"/>
              <a:t>The parity of 1010 is 2 (mod 2).</a:t>
            </a:r>
          </a:p>
          <a:p>
            <a:r>
              <a:rPr lang="zh-TW" altLang="en-US" dirty="0"/>
              <a:t>21</a:t>
            </a:r>
          </a:p>
          <a:p>
            <a:r>
              <a:rPr lang="zh-TW" altLang="en-US" dirty="0"/>
              <a:t>The parity of 10101 is 3 (mod 2).</a:t>
            </a:r>
          </a:p>
          <a:p>
            <a:r>
              <a:rPr lang="zh-TW" alt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83146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FCD0E92C-00AC-4882-AADD-CBDB9D22B687}"/>
              </a:ext>
            </a:extLst>
          </p:cNvPr>
          <p:cNvGrpSpPr/>
          <p:nvPr/>
        </p:nvGrpSpPr>
        <p:grpSpPr>
          <a:xfrm>
            <a:off x="182443" y="678425"/>
            <a:ext cx="10723016" cy="5920385"/>
            <a:chOff x="182443" y="678425"/>
            <a:chExt cx="10723016" cy="5920385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B077335-4BFB-4810-B10A-4B55AFF349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1875" t="30997" r="32847" b="30678"/>
            <a:stretch/>
          </p:blipFill>
          <p:spPr>
            <a:xfrm>
              <a:off x="182443" y="678425"/>
              <a:ext cx="7865533" cy="5920385"/>
            </a:xfrm>
            <a:prstGeom prst="rect">
              <a:avLst/>
            </a:prstGeom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92F3A1B6-3635-4AED-9FF3-CDEA15FB1C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1875" t="69323" r="60610" b="9876"/>
            <a:stretch/>
          </p:blipFill>
          <p:spPr>
            <a:xfrm>
              <a:off x="8621525" y="754080"/>
              <a:ext cx="2283934" cy="355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9427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ADD136D-AC2D-49E7-A9BF-1FD26D4F0F3C}"/>
              </a:ext>
            </a:extLst>
          </p:cNvPr>
          <p:cNvSpPr txBox="1"/>
          <p:nvPr/>
        </p:nvSpPr>
        <p:spPr>
          <a:xfrm>
            <a:off x="9584267" y="1511068"/>
            <a:ext cx="1888067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/>
              <a:t>Case 1: C</a:t>
            </a:r>
          </a:p>
          <a:p>
            <a:r>
              <a:rPr lang="zh-TW" altLang="en-US" dirty="0"/>
              <a:t>Case 2: AD</a:t>
            </a:r>
          </a:p>
          <a:p>
            <a:r>
              <a:rPr lang="zh-TW" altLang="en-US" dirty="0"/>
              <a:t>Case 3: empty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810AF97-C2B7-443C-A362-2CB3D488575F}"/>
              </a:ext>
            </a:extLst>
          </p:cNvPr>
          <p:cNvSpPr txBox="1"/>
          <p:nvPr/>
        </p:nvSpPr>
        <p:spPr>
          <a:xfrm>
            <a:off x="9584266" y="209941"/>
            <a:ext cx="1888067" cy="120032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/>
              <a:t>3</a:t>
            </a:r>
          </a:p>
          <a:p>
            <a:r>
              <a:rPr lang="zh-TW" altLang="en-US" dirty="0"/>
              <a:t>ABCC</a:t>
            </a:r>
          </a:p>
          <a:p>
            <a:r>
              <a:rPr lang="zh-TW" altLang="en-US" dirty="0"/>
              <a:t>AABBBBDDDDD</a:t>
            </a:r>
          </a:p>
          <a:p>
            <a:r>
              <a:rPr lang="zh-TW" altLang="en-US" dirty="0"/>
              <a:t>ABCDFFFF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440057E-1F19-425C-AD7D-04982273A1F4}"/>
              </a:ext>
            </a:extLst>
          </p:cNvPr>
          <p:cNvSpPr txBox="1"/>
          <p:nvPr/>
        </p:nvSpPr>
        <p:spPr>
          <a:xfrm>
            <a:off x="127000" y="67062"/>
            <a:ext cx="4140200" cy="34163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sz="12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#include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&lt;iostream&gt;</a:t>
            </a:r>
            <a:endParaRPr lang="en-US" altLang="zh-TW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2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#include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&lt;set&gt;</a:t>
            </a:r>
            <a:endParaRPr lang="en-US" altLang="zh-TW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2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#include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&lt;vector&gt;</a:t>
            </a:r>
            <a:endParaRPr lang="en-US" altLang="zh-TW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endParaRPr lang="zh-TW" altLang="en-US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using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namespace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std;</a:t>
            </a:r>
          </a:p>
          <a:p>
            <a:endParaRPr lang="zh-TW" altLang="en-US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void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mkprime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</a:t>
            </a:r>
            <a:r>
              <a:rPr lang="en-US" altLang="zh-TW" sz="1200" dirty="0">
                <a:solidFill>
                  <a:srgbClr val="2B91A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vector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</a:t>
            </a:r>
            <a:r>
              <a:rPr lang="en-US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bool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&gt;&amp; </a:t>
            </a:r>
            <a:r>
              <a:rPr lang="en-US" altLang="zh-TW" sz="12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prime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 {</a:t>
            </a: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</a:t>
            </a:r>
            <a:r>
              <a:rPr lang="en-US" altLang="zh-TW" sz="12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prime</a:t>
            </a:r>
            <a:r>
              <a:rPr lang="en-US" altLang="zh-TW" sz="12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[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0</a:t>
            </a:r>
            <a:r>
              <a:rPr lang="en-US" altLang="zh-TW" sz="12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]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=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false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</a:t>
            </a:r>
            <a:r>
              <a:rPr lang="en-US" altLang="zh-TW" sz="12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prime</a:t>
            </a:r>
            <a:r>
              <a:rPr lang="en-US" altLang="zh-TW" sz="12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[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1</a:t>
            </a:r>
            <a:r>
              <a:rPr lang="en-US" altLang="zh-TW" sz="12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]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=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false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;</a:t>
            </a:r>
          </a:p>
          <a:p>
            <a:endParaRPr lang="zh-TW" altLang="en-US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nn-NO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</a:t>
            </a:r>
            <a:r>
              <a:rPr lang="nn-NO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for</a:t>
            </a:r>
            <a:r>
              <a:rPr lang="nn-NO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</a:t>
            </a:r>
            <a:r>
              <a:rPr lang="nn-NO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nn-NO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i = 2; i &lt; 2001; i++) {</a:t>
            </a: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if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</a:t>
            </a:r>
            <a:r>
              <a:rPr lang="en-US" altLang="zh-TW" sz="12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prime</a:t>
            </a:r>
            <a:r>
              <a:rPr lang="en-US" altLang="zh-TW" sz="12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[</a:t>
            </a:r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</a:t>
            </a:r>
            <a:r>
              <a:rPr lang="en-US" altLang="zh-TW" sz="12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]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 {</a:t>
            </a: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    </a:t>
            </a:r>
            <a:r>
              <a:rPr lang="en-US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for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</a:t>
            </a:r>
            <a:r>
              <a:rPr lang="en-US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j = </a:t>
            </a:r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+ </a:t>
            </a:r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; j &lt; 2001; j += </a:t>
            </a:r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 {</a:t>
            </a: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        </a:t>
            </a:r>
            <a:r>
              <a:rPr lang="en-US" altLang="zh-TW" sz="12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prime</a:t>
            </a:r>
            <a:r>
              <a:rPr lang="en-US" altLang="zh-TW" sz="12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[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j</a:t>
            </a:r>
            <a:r>
              <a:rPr lang="en-US" altLang="zh-TW" sz="12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]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=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false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;</a:t>
            </a:r>
          </a:p>
          <a:p>
            <a:r>
              <a:rPr lang="zh-TW" altLang="en-US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    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</a:p>
          <a:p>
            <a:r>
              <a:rPr lang="zh-TW" altLang="en-US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</a:p>
          <a:p>
            <a:r>
              <a:rPr lang="zh-TW" altLang="en-US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81742FF-243B-472D-A64E-C5DA8A9EBD18}"/>
              </a:ext>
            </a:extLst>
          </p:cNvPr>
          <p:cNvSpPr txBox="1"/>
          <p:nvPr/>
        </p:nvSpPr>
        <p:spPr>
          <a:xfrm>
            <a:off x="4910666" y="67062"/>
            <a:ext cx="4343401" cy="65556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main() {</a:t>
            </a: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</a:t>
            </a:r>
            <a:r>
              <a:rPr lang="en-US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T = 0;</a:t>
            </a: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</a:t>
            </a:r>
            <a:r>
              <a:rPr lang="en-US" altLang="zh-TW" sz="1200" dirty="0">
                <a:solidFill>
                  <a:srgbClr val="2B91A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vector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</a:t>
            </a:r>
            <a:r>
              <a:rPr lang="en-US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bool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 prime(2001, </a:t>
            </a:r>
            <a:r>
              <a:rPr lang="en-US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true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);</a:t>
            </a:r>
          </a:p>
          <a:p>
            <a:endParaRPr lang="zh-TW" altLang="en-US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</a:t>
            </a:r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mkprime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(prime);</a:t>
            </a:r>
          </a:p>
          <a:p>
            <a:endParaRPr lang="zh-TW" altLang="en-US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</a:t>
            </a:r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cin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&gt;&gt;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T;</a:t>
            </a:r>
          </a:p>
          <a:p>
            <a:r>
              <a:rPr lang="nn-NO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</a:t>
            </a:r>
            <a:r>
              <a:rPr lang="nn-NO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for</a:t>
            </a:r>
            <a:r>
              <a:rPr lang="nn-NO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</a:t>
            </a:r>
            <a:r>
              <a:rPr lang="nn-NO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nn-NO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i = 0; i &lt; T; i++) {</a:t>
            </a: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200" dirty="0">
                <a:solidFill>
                  <a:srgbClr val="2B91A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string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input = </a:t>
            </a:r>
            <a:r>
              <a:rPr lang="en-US" altLang="zh-TW" sz="12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""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200" dirty="0">
                <a:solidFill>
                  <a:srgbClr val="2B91A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set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</a:t>
            </a:r>
            <a:r>
              <a:rPr lang="en-US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char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 output;</a:t>
            </a: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200" dirty="0">
                <a:solidFill>
                  <a:srgbClr val="2B91A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vector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</a:t>
            </a:r>
            <a:r>
              <a:rPr lang="en-US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 count(123, 0);</a:t>
            </a:r>
            <a:r>
              <a:rPr lang="zh-TW" altLang="en-US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//generate a vector of size int(</a:t>
            </a:r>
            <a:r>
              <a:rPr lang="en-US" altLang="zh-TW" sz="12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“z”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+ 1) = 123 with each value 0 </a:t>
            </a:r>
          </a:p>
          <a:p>
            <a:endParaRPr lang="zh-TW" altLang="en-US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cin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&gt;&gt;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input;</a:t>
            </a: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for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</a:t>
            </a:r>
            <a:r>
              <a:rPr lang="en-US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auto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c : input) {</a:t>
            </a: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    count</a:t>
            </a:r>
            <a:r>
              <a:rPr lang="en-US" altLang="zh-TW" sz="12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[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</a:t>
            </a:r>
            <a:r>
              <a:rPr lang="en-US" altLang="zh-TW" sz="12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]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++;</a:t>
            </a:r>
          </a:p>
          <a:p>
            <a:r>
              <a:rPr lang="zh-TW" altLang="en-US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for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</a:t>
            </a:r>
            <a:r>
              <a:rPr lang="en-US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j = 0; j &lt; </a:t>
            </a:r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count.size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(); </a:t>
            </a:r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j++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 {</a:t>
            </a: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    </a:t>
            </a:r>
            <a:r>
              <a:rPr lang="en-US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if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(prime</a:t>
            </a:r>
            <a:r>
              <a:rPr lang="en-US" altLang="zh-TW" sz="12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[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count</a:t>
            </a:r>
            <a:r>
              <a:rPr lang="en-US" altLang="zh-TW" sz="12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[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j</a:t>
            </a:r>
            <a:r>
              <a:rPr lang="en-US" altLang="zh-TW" sz="12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]]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 {</a:t>
            </a: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        </a:t>
            </a:r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output.insert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(j);</a:t>
            </a:r>
          </a:p>
          <a:p>
            <a:r>
              <a:rPr lang="zh-TW" altLang="en-US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    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</a:p>
          <a:p>
            <a:r>
              <a:rPr lang="zh-TW" altLang="en-US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cout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"Case "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+ 1 </a:t>
            </a:r>
            <a:r>
              <a:rPr lang="en-US" altLang="zh-TW" sz="12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": "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if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</a:t>
            </a:r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output.empty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()) {</a:t>
            </a: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    </a:t>
            </a:r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cout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"empty"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endl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;</a:t>
            </a:r>
          </a:p>
          <a:p>
            <a:r>
              <a:rPr lang="zh-TW" altLang="en-US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else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{</a:t>
            </a: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    </a:t>
            </a:r>
            <a:r>
              <a:rPr lang="en-US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for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</a:t>
            </a:r>
            <a:r>
              <a:rPr lang="en-US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auto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j : output) </a:t>
            </a:r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cout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j;</a:t>
            </a: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    </a:t>
            </a:r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cout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endl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;</a:t>
            </a:r>
          </a:p>
          <a:p>
            <a:r>
              <a:rPr lang="zh-TW" altLang="en-US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</a:p>
          <a:p>
            <a:r>
              <a:rPr lang="zh-TW" altLang="en-US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</a:p>
          <a:p>
            <a:endParaRPr lang="zh-TW" altLang="en-US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</a:t>
            </a:r>
            <a:r>
              <a:rPr lang="en-US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return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0;</a:t>
            </a: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  <a:endParaRPr lang="zh-TW" altLang="en-US" sz="12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F1A8E99-85FB-4819-AD4B-B66C142976F4}"/>
              </a:ext>
            </a:extLst>
          </p:cNvPr>
          <p:cNvSpPr txBox="1"/>
          <p:nvPr/>
        </p:nvSpPr>
        <p:spPr>
          <a:xfrm>
            <a:off x="127000" y="3852714"/>
            <a:ext cx="4250267" cy="28931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sz="14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#include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&lt;iostream&gt;</a:t>
            </a:r>
            <a:endParaRPr lang="en-US" altLang="zh-TW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4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#include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&lt;vector&gt;</a:t>
            </a:r>
            <a:endParaRPr lang="en-US" altLang="zh-TW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endParaRPr lang="zh-TW" altLang="en-US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using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namespace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std;</a:t>
            </a:r>
          </a:p>
          <a:p>
            <a:endParaRPr lang="zh-TW" altLang="en-US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main() {</a:t>
            </a:r>
          </a:p>
          <a:p>
            <a:pPr lvl="1"/>
            <a:r>
              <a:rPr lang="en-US" altLang="zh-TW" sz="1400" dirty="0">
                <a:solidFill>
                  <a:srgbClr val="2B91A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vector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</a:t>
            </a:r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vec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= { 4,3,2,1,0 };</a:t>
            </a:r>
          </a:p>
          <a:p>
            <a:pPr lvl="1"/>
            <a:endParaRPr lang="zh-TW" altLang="en-US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lvl="1"/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for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</a:t>
            </a:r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auto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iter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: 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vec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 {</a:t>
            </a:r>
          </a:p>
          <a:p>
            <a:pPr lvl="1"/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	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cout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iter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endl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;</a:t>
            </a:r>
          </a:p>
          <a:p>
            <a:pPr lvl="1"/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</a:p>
          <a:p>
            <a:pPr lvl="1"/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return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0;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  <a:endParaRPr lang="zh-TW" altLang="en-US" sz="14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3C10326-1FE4-45F3-BB02-EC222AF61A8F}"/>
              </a:ext>
            </a:extLst>
          </p:cNvPr>
          <p:cNvSpPr txBox="1"/>
          <p:nvPr/>
        </p:nvSpPr>
        <p:spPr>
          <a:xfrm>
            <a:off x="3886200" y="4688469"/>
            <a:ext cx="296333" cy="147732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/>
              <a:t>4</a:t>
            </a:r>
          </a:p>
          <a:p>
            <a:r>
              <a:rPr lang="en-US" altLang="zh-TW" dirty="0"/>
              <a:t>3</a:t>
            </a:r>
          </a:p>
          <a:p>
            <a:r>
              <a:rPr lang="en-US" altLang="zh-TW" dirty="0"/>
              <a:t>2</a:t>
            </a:r>
          </a:p>
          <a:p>
            <a:r>
              <a:rPr lang="en-US" altLang="zh-TW" dirty="0"/>
              <a:t>1</a:t>
            </a:r>
          </a:p>
          <a:p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7DF9DAC-B7E2-4C79-ACFF-BA356B441F49}"/>
              </a:ext>
            </a:extLst>
          </p:cNvPr>
          <p:cNvSpPr txBox="1"/>
          <p:nvPr/>
        </p:nvSpPr>
        <p:spPr>
          <a:xfrm>
            <a:off x="9584266" y="2535196"/>
            <a:ext cx="1778000" cy="9233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/>
              <a:t>2</a:t>
            </a:r>
          </a:p>
          <a:p>
            <a:r>
              <a:rPr lang="en-US" altLang="zh-TW" dirty="0" err="1"/>
              <a:t>tTTkkKKKPpP</a:t>
            </a:r>
            <a:endParaRPr lang="en-US" altLang="zh-TW" dirty="0"/>
          </a:p>
          <a:p>
            <a:r>
              <a:rPr lang="zh-TW" altLang="en-US" dirty="0"/>
              <a:t>yyYYRR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E3F3DE5-21FF-4325-8F4C-FB312BF0D02F}"/>
              </a:ext>
            </a:extLst>
          </p:cNvPr>
          <p:cNvSpPr txBox="1"/>
          <p:nvPr/>
        </p:nvSpPr>
        <p:spPr>
          <a:xfrm>
            <a:off x="9584266" y="3559324"/>
            <a:ext cx="177800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/>
              <a:t>Case 1: </a:t>
            </a:r>
            <a:r>
              <a:rPr lang="en-US" altLang="zh-TW" dirty="0" err="1"/>
              <a:t>KPTk</a:t>
            </a:r>
            <a:endParaRPr lang="en-US" altLang="zh-TW" dirty="0"/>
          </a:p>
          <a:p>
            <a:r>
              <a:rPr lang="en-US" altLang="zh-TW" dirty="0"/>
              <a:t>Case 2: </a:t>
            </a:r>
            <a:r>
              <a:rPr lang="en-US" altLang="zh-TW" dirty="0" err="1"/>
              <a:t>RYy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C0EBE2F-80EC-414F-96A7-4E8C3EA54F62}"/>
              </a:ext>
            </a:extLst>
          </p:cNvPr>
          <p:cNvSpPr txBox="1"/>
          <p:nvPr/>
        </p:nvSpPr>
        <p:spPr>
          <a:xfrm>
            <a:off x="8961965" y="4313587"/>
            <a:ext cx="3132667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/>
              <a:t>1</a:t>
            </a:r>
            <a:endParaRPr lang="zh-TW" altLang="en-US" dirty="0"/>
          </a:p>
          <a:p>
            <a:r>
              <a:rPr lang="en-US" altLang="zh-TW" dirty="0"/>
              <a:t>1022AABBCDDDBCACADBDDB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5CAA1C2-D2BB-407D-AF54-908F5EBABE73}"/>
              </a:ext>
            </a:extLst>
          </p:cNvPr>
          <p:cNvSpPr txBox="1"/>
          <p:nvPr/>
        </p:nvSpPr>
        <p:spPr>
          <a:xfrm>
            <a:off x="9584266" y="5114598"/>
            <a:ext cx="17780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/>
              <a:t>Case 1: 2BC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28946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925</TotalTime>
  <Words>588</Words>
  <Application>Microsoft Office PowerPoint</Application>
  <PresentationFormat>寬螢幕</PresentationFormat>
  <Paragraphs>121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細明體</vt:lpstr>
      <vt:lpstr>Arial</vt:lpstr>
      <vt:lpstr>Calibri</vt:lpstr>
      <vt:lpstr>Calibri Light</vt:lpstr>
      <vt:lpstr>Office 佈景主題</vt:lpstr>
      <vt:lpstr>程式設計實習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CPE 2023-0523</dc:title>
  <dc:creator>COTA</dc:creator>
  <cp:lastModifiedBy>Chen Shang-Kuan</cp:lastModifiedBy>
  <cp:revision>59</cp:revision>
  <dcterms:created xsi:type="dcterms:W3CDTF">2023-10-03T00:53:53Z</dcterms:created>
  <dcterms:modified xsi:type="dcterms:W3CDTF">2025-02-25T01:32:36Z</dcterms:modified>
</cp:coreProperties>
</file>