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62" r:id="rId4"/>
    <p:sldId id="263" r:id="rId5"/>
    <p:sldId id="264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8508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5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8F9976-6F08-4CE3-9270-8C2BD43119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25F1319-B882-4F47-927C-171C42AE22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1A7FC21-06EC-4A7F-A621-A6050DEE5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D2C8A-C2AF-41DD-88C4-7A34D96C240F}" type="datetimeFigureOut">
              <a:rPr lang="zh-TW" altLang="en-US" smtClean="0"/>
              <a:t>2025/3/18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3AA84FF-0438-4061-B0B1-57D11FB46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F88E7DF-65D3-4CAB-BFE4-FBBD18E51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245ED-27EA-4D87-98C6-6BCC01C73E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7619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2CE073-93A8-45C9-AB38-CC80FC36E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C945A4-5E5B-44E1-9912-7EC528DAF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2C28312-2C6E-40F7-85B1-F5F7FD42F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D2C8A-C2AF-41DD-88C4-7A34D96C240F}" type="datetimeFigureOut">
              <a:rPr lang="zh-TW" altLang="en-US" smtClean="0"/>
              <a:t>2025/3/18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BD3DD8B-4616-4D6A-BDF3-53B8D65C3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B1256FD-8D18-47B2-BBCC-9700D0548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245ED-27EA-4D87-98C6-6BCC01C73E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2759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8167DC-1C1B-4A79-9622-5D158B02B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7A9EC2D-5C1E-498F-90D0-3C38421C19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B22335B-B4B4-4DE5-BA1F-ADE3242D5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D2C8A-C2AF-41DD-88C4-7A34D96C240F}" type="datetimeFigureOut">
              <a:rPr lang="zh-TW" altLang="en-US" smtClean="0"/>
              <a:t>2025/3/18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2E7E836-51DA-4B20-AD3D-CBBEF7209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BB371B5-F227-4253-9807-B015B7DA6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245ED-27EA-4D87-98C6-6BCC01C73E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7604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6BDAC1-2688-40FF-858E-4D2A10CC9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F7793A7-151F-4DFB-B279-F7A4CFC758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143C9A8-A52A-445B-8AD9-312B5D8D24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7F54571-49DD-4169-8058-6763844E9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D2C8A-C2AF-41DD-88C4-7A34D96C240F}" type="datetimeFigureOut">
              <a:rPr lang="zh-TW" altLang="en-US" smtClean="0"/>
              <a:t>2025/3/18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8CD54E4-CE50-4ED2-8E8E-71A037580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EAF1CB2-B672-4D98-9E7D-BCB681911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245ED-27EA-4D87-98C6-6BCC01C73E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5713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6640A6-3991-4390-A394-BCF3955D8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F3FA3C4-2023-4DDA-91ED-E2676AB14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5BFD4C9-1186-4FC0-A659-A4776D5CD9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1693DBC-E8A0-4773-A7F1-2296C19B9E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5FC3282-B03C-4E8C-AC2D-8F4458F9FC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3CD4634-3587-4241-AACB-9C89FB18D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D2C8A-C2AF-41DD-88C4-7A34D96C240F}" type="datetimeFigureOut">
              <a:rPr lang="zh-TW" altLang="en-US" smtClean="0"/>
              <a:t>2025/3/18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B2C079F-CA52-4CEB-86E6-105ADCF98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4990AC1-CC53-492E-BA02-D458ABDE7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245ED-27EA-4D87-98C6-6BCC01C73E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8660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273678-9585-40D9-9A80-746592E91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6F39C2E-6EFC-4F16-AB91-6C29FE371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D2C8A-C2AF-41DD-88C4-7A34D96C240F}" type="datetimeFigureOut">
              <a:rPr lang="zh-TW" altLang="en-US" smtClean="0"/>
              <a:t>2025/3/18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4DC677B-599D-4860-AC88-02CADC93D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F4966F4-E9EC-4C0E-B39B-397F2721D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245ED-27EA-4D87-98C6-6BCC01C73E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9548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74691DC-A410-4DB5-A6B7-A04EE3E22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D2C8A-C2AF-41DD-88C4-7A34D96C240F}" type="datetimeFigureOut">
              <a:rPr lang="zh-TW" altLang="en-US" smtClean="0"/>
              <a:t>2025/3/18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9698084-D079-428A-8861-1BF97B5C6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1FED44E-AB7A-46AD-897F-4479DC9CC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245ED-27EA-4D87-98C6-6BCC01C73E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3410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9D6C11-F4DD-4626-8FD6-A995AD484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F732280-EC3D-42DB-AE68-0F5582C7E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9480BBE-A19E-42F3-88A6-0E02601AF4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8E42F89-1A81-4E5E-85CB-BAB96F4DF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D2C8A-C2AF-41DD-88C4-7A34D96C240F}" type="datetimeFigureOut">
              <a:rPr lang="zh-TW" altLang="en-US" smtClean="0"/>
              <a:t>2025/3/18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C17D72C-68BB-431D-AD7A-9E0A90439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6FBF663-F98E-44FA-94D5-84AB0F5BC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245ED-27EA-4D87-98C6-6BCC01C73E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6032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95589D-87BC-46D5-A1E7-44AE52C6F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5638D3B-50DE-4B44-99F9-558A4C1B1B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2CD8A90-1E73-4540-BDF8-567B78CC16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483A7F8-4C9F-419F-88E3-5BF2B91FC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D2C8A-C2AF-41DD-88C4-7A34D96C240F}" type="datetimeFigureOut">
              <a:rPr lang="zh-TW" altLang="en-US" smtClean="0"/>
              <a:t>2025/3/18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A32AA51-D653-47E9-9854-3E678C7D3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CDA03A2-7E23-4C0B-B4AA-07037A028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245ED-27EA-4D87-98C6-6BCC01C73E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0485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EB92C5-626F-4430-B0E6-0ED8AA783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7CE012B-F7E0-43FD-A673-87290C4991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A60C462-CB60-4B70-8592-C0E2F118E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D2C8A-C2AF-41DD-88C4-7A34D96C240F}" type="datetimeFigureOut">
              <a:rPr lang="zh-TW" altLang="en-US" smtClean="0"/>
              <a:t>2025/3/18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AC038E2-2040-4241-B9E8-967A69607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66EA083-B9A7-47EB-BF2E-493376BBD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245ED-27EA-4D87-98C6-6BCC01C73E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8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FA75D3C-343B-4C7E-8BB0-AD38264367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BED48BE-B535-4EF8-8EE3-707121B7D6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AA710B9-2EEE-4EBA-85E8-9B058457C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D2C8A-C2AF-41DD-88C4-7A34D96C240F}" type="datetimeFigureOut">
              <a:rPr lang="zh-TW" altLang="en-US" smtClean="0"/>
              <a:t>2025/3/18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859B831-718B-4F4B-AA83-BD91E55B1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922B78-0A90-4DF4-9493-146ABE41E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245ED-27EA-4D87-98C6-6BCC01C73E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6228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58410F3-D863-477E-9A0E-894DA068A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B1D1211-F63C-4F48-A701-83E2E2A36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F964D32-C3BC-4512-B2E7-3B1816FAA5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AD2C8A-C2AF-41DD-88C4-7A34D96C240F}" type="datetimeFigureOut">
              <a:rPr lang="zh-TW" altLang="en-US" smtClean="0"/>
              <a:t>2025/3/18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C086CC4-8FD4-44A3-9E39-7A7D6F7C35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705F39-FF27-47ED-8862-6CC671F6C9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4245ED-27EA-4D87-98C6-6BCC01C73E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6375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DC42F9-57F3-438E-95B3-6D17D0F626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程式設計實習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ACBAAEB-0A5E-4DA2-B6F0-003C2E49B3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2025.3.14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09856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3056DC82-2815-4DB4-AD1B-626ED31C64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139" t="20618" r="65347" b="36398"/>
          <a:stretch/>
        </p:blipFill>
        <p:spPr>
          <a:xfrm>
            <a:off x="444500" y="774699"/>
            <a:ext cx="8621462" cy="6519333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D490589F-C708-411F-A3A6-B94BF2AB83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524" t="64302" r="77732" b="9260"/>
          <a:stretch/>
        </p:blipFill>
        <p:spPr>
          <a:xfrm>
            <a:off x="8762999" y="321732"/>
            <a:ext cx="2717801" cy="4157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261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4F66F2FE-90D7-46F3-B58F-565C2A72F42D}"/>
              </a:ext>
            </a:extLst>
          </p:cNvPr>
          <p:cNvSpPr txBox="1"/>
          <p:nvPr/>
        </p:nvSpPr>
        <p:spPr>
          <a:xfrm>
            <a:off x="8195733" y="1391517"/>
            <a:ext cx="2929467" cy="258532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dirty="0"/>
              <a:t>PERFECTION OUTPUT</a:t>
            </a:r>
          </a:p>
          <a:p>
            <a:r>
              <a:rPr lang="en-US" altLang="zh-TW" dirty="0"/>
              <a:t>       15   DEFICIENT</a:t>
            </a:r>
          </a:p>
          <a:p>
            <a:r>
              <a:rPr lang="en-US" altLang="zh-TW" dirty="0"/>
              <a:t>       28   PERFECT</a:t>
            </a:r>
          </a:p>
          <a:p>
            <a:r>
              <a:rPr lang="en-US" altLang="zh-TW" dirty="0"/>
              <a:t>         6   PERFECT</a:t>
            </a:r>
          </a:p>
          <a:p>
            <a:r>
              <a:rPr lang="en-US" altLang="zh-TW" dirty="0"/>
              <a:t>       56   ABUNDANT</a:t>
            </a:r>
          </a:p>
          <a:p>
            <a:r>
              <a:rPr lang="en-US" altLang="zh-TW" dirty="0"/>
              <a:t>60000   ABUNDANT</a:t>
            </a:r>
          </a:p>
          <a:p>
            <a:r>
              <a:rPr lang="en-US" altLang="zh-TW" dirty="0"/>
              <a:t>       22   DEFICIENT</a:t>
            </a:r>
          </a:p>
          <a:p>
            <a:r>
              <a:rPr lang="en-US" altLang="zh-TW" dirty="0"/>
              <a:t>     496   PERFECT</a:t>
            </a:r>
          </a:p>
          <a:p>
            <a:r>
              <a:rPr lang="en-US" altLang="zh-TW" dirty="0"/>
              <a:t>END OF OUTPUT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C263715-2BF9-4CF0-8B4F-0CE358586414}"/>
              </a:ext>
            </a:extLst>
          </p:cNvPr>
          <p:cNvSpPr txBox="1"/>
          <p:nvPr/>
        </p:nvSpPr>
        <p:spPr>
          <a:xfrm>
            <a:off x="829735" y="644310"/>
            <a:ext cx="6096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>
                <a:solidFill>
                  <a:srgbClr val="80808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#include</a:t>
            </a:r>
            <a:r>
              <a:rPr lang="en-US" altLang="zh-TW" sz="1800" dirty="0">
                <a:solidFill>
                  <a:srgbClr val="0000FF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&lt;iostream&gt;</a:t>
            </a:r>
            <a:endParaRPr lang="en-US" altLang="zh-TW" sz="1800" dirty="0">
              <a:solidFill>
                <a:srgbClr val="000000"/>
              </a:solidFill>
              <a:highlight>
                <a:srgbClr val="FFFFFF"/>
              </a:highlight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800" dirty="0">
                <a:solidFill>
                  <a:srgbClr val="0000FF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using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800" dirty="0">
                <a:solidFill>
                  <a:srgbClr val="0000FF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namespace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std;</a:t>
            </a:r>
          </a:p>
          <a:p>
            <a:r>
              <a:rPr lang="en-US" altLang="zh-TW" sz="1800" dirty="0">
                <a:solidFill>
                  <a:srgbClr val="0000FF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int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main() {</a:t>
            </a:r>
          </a:p>
          <a:p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   </a:t>
            </a:r>
            <a:r>
              <a:rPr lang="en-US" altLang="zh-TW" sz="1800" dirty="0">
                <a:solidFill>
                  <a:srgbClr val="0000FF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int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n;</a:t>
            </a:r>
          </a:p>
          <a:p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   </a:t>
            </a:r>
            <a:r>
              <a:rPr lang="en-US" altLang="zh-TW" sz="1800" dirty="0" err="1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cout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800" dirty="0">
                <a:solidFill>
                  <a:srgbClr val="00808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&lt;&lt;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800" dirty="0">
                <a:solidFill>
                  <a:srgbClr val="A31515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"PERFECTION OUTPUT"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800" dirty="0">
                <a:solidFill>
                  <a:srgbClr val="00808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&lt;&lt;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800" dirty="0" err="1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endl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   </a:t>
            </a:r>
            <a:r>
              <a:rPr lang="en-US" altLang="zh-TW" sz="1800" dirty="0">
                <a:solidFill>
                  <a:srgbClr val="0000FF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while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(</a:t>
            </a:r>
            <a:r>
              <a:rPr lang="en-US" altLang="zh-TW" sz="1800" dirty="0" err="1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cin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800" dirty="0">
                <a:solidFill>
                  <a:srgbClr val="00808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&gt;&gt;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n &amp;&amp; n) {</a:t>
            </a:r>
          </a:p>
          <a:p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       </a:t>
            </a:r>
            <a:r>
              <a:rPr lang="en-US" altLang="zh-TW" sz="1800" dirty="0">
                <a:solidFill>
                  <a:srgbClr val="0000FF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int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sum = 0;</a:t>
            </a:r>
          </a:p>
          <a:p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       </a:t>
            </a:r>
            <a:r>
              <a:rPr lang="en-US" altLang="zh-TW" sz="1800" dirty="0">
                <a:solidFill>
                  <a:srgbClr val="0000FF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for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(</a:t>
            </a:r>
            <a:r>
              <a:rPr lang="en-US" altLang="zh-TW" sz="1800" dirty="0">
                <a:solidFill>
                  <a:srgbClr val="0000FF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int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d = 1;d &lt; </a:t>
            </a:r>
            <a:r>
              <a:rPr lang="en-US" altLang="zh-TW" sz="1800" dirty="0" err="1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n;d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++)</a:t>
            </a:r>
          </a:p>
          <a:p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           </a:t>
            </a:r>
            <a:r>
              <a:rPr lang="en-US" altLang="zh-TW" sz="1800" dirty="0">
                <a:solidFill>
                  <a:srgbClr val="0000FF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if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(n % d == 0)</a:t>
            </a:r>
          </a:p>
          <a:p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               sum += d;</a:t>
            </a:r>
          </a:p>
          <a:p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       </a:t>
            </a:r>
            <a:r>
              <a:rPr lang="en-US" altLang="zh-TW" sz="1800" dirty="0" err="1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printf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(</a:t>
            </a:r>
            <a:r>
              <a:rPr lang="en-US" altLang="zh-TW" sz="1800" dirty="0">
                <a:solidFill>
                  <a:srgbClr val="A31515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"%5d  "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, n);</a:t>
            </a:r>
          </a:p>
          <a:p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       </a:t>
            </a:r>
            <a:r>
              <a:rPr lang="en-US" altLang="zh-TW" sz="1800" dirty="0">
                <a:solidFill>
                  <a:srgbClr val="0000FF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if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(sum &lt; n)</a:t>
            </a:r>
            <a:r>
              <a:rPr lang="en-US" altLang="zh-TW" sz="1800" dirty="0" err="1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cout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800" dirty="0">
                <a:solidFill>
                  <a:srgbClr val="00808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&lt;&lt;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800" dirty="0">
                <a:solidFill>
                  <a:srgbClr val="A31515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"DEFICIENT"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800" dirty="0">
                <a:solidFill>
                  <a:srgbClr val="00808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&lt;&lt;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800" dirty="0" err="1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endl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       </a:t>
            </a:r>
            <a:r>
              <a:rPr lang="en-US" altLang="zh-TW" sz="1800" dirty="0">
                <a:solidFill>
                  <a:srgbClr val="0000FF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if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(sum &gt; n)</a:t>
            </a:r>
            <a:r>
              <a:rPr lang="en-US" altLang="zh-TW" sz="1800" dirty="0" err="1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cout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800" dirty="0">
                <a:solidFill>
                  <a:srgbClr val="00808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&lt;&lt;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800" dirty="0">
                <a:solidFill>
                  <a:srgbClr val="A31515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"ABUNDANT"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800" dirty="0">
                <a:solidFill>
                  <a:srgbClr val="00808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&lt;&lt;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800" dirty="0" err="1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endl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       </a:t>
            </a:r>
            <a:r>
              <a:rPr lang="en-US" altLang="zh-TW" sz="1800" dirty="0">
                <a:solidFill>
                  <a:srgbClr val="0000FF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if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(sum == n)</a:t>
            </a:r>
            <a:r>
              <a:rPr lang="en-US" altLang="zh-TW" sz="1800" dirty="0" err="1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cout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800" dirty="0">
                <a:solidFill>
                  <a:srgbClr val="00808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&lt;&lt;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800" dirty="0">
                <a:solidFill>
                  <a:srgbClr val="A31515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"PERFECT"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800" dirty="0">
                <a:solidFill>
                  <a:srgbClr val="00808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&lt;&lt;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800" dirty="0" err="1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endl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;</a:t>
            </a:r>
          </a:p>
          <a:p>
            <a:r>
              <a:rPr lang="zh-TW" altLang="en-US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   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   </a:t>
            </a:r>
            <a:r>
              <a:rPr lang="en-US" altLang="zh-TW" sz="1800" dirty="0" err="1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cout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800" dirty="0">
                <a:solidFill>
                  <a:srgbClr val="00808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&lt;&lt;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800" dirty="0">
                <a:solidFill>
                  <a:srgbClr val="A31515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"END OF OUTPUT"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800" dirty="0">
                <a:solidFill>
                  <a:srgbClr val="00808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&lt;&lt;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800" dirty="0" err="1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endl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   </a:t>
            </a:r>
            <a:r>
              <a:rPr lang="en-US" altLang="zh-TW" sz="1800" dirty="0">
                <a:solidFill>
                  <a:srgbClr val="0000FF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return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 0;</a:t>
            </a:r>
          </a:p>
          <a:p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細明體" panose="02020509000000000000" pitchFamily="49" charset="-120"/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B8B8C4C-AD9E-4719-A0C4-5A2558C72064}"/>
              </a:ext>
            </a:extLst>
          </p:cNvPr>
          <p:cNvSpPr txBox="1"/>
          <p:nvPr/>
        </p:nvSpPr>
        <p:spPr>
          <a:xfrm>
            <a:off x="8195733" y="831334"/>
            <a:ext cx="273352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dirty="0"/>
              <a:t>15 28 6 56 60000 22 496 0</a:t>
            </a:r>
          </a:p>
        </p:txBody>
      </p:sp>
    </p:spTree>
    <p:extLst>
      <p:ext uri="{BB962C8B-B14F-4D97-AF65-F5344CB8AC3E}">
        <p14:creationId xmlns:p14="http://schemas.microsoft.com/office/powerpoint/2010/main" val="3575750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290C57AB-9157-402B-844A-4C8DBE65BD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972" t="20618" r="65625" b="29339"/>
          <a:stretch/>
        </p:blipFill>
        <p:spPr>
          <a:xfrm>
            <a:off x="62589" y="0"/>
            <a:ext cx="8457845" cy="6798733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A3CAD5D1-895D-40AC-84AE-6158C817D1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530" t="70472" r="80035" b="10246"/>
          <a:stretch/>
        </p:blipFill>
        <p:spPr>
          <a:xfrm>
            <a:off x="9719733" y="660400"/>
            <a:ext cx="2209799" cy="348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18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EBFD9AEE-C888-43B7-973B-F97366D8A093}"/>
              </a:ext>
            </a:extLst>
          </p:cNvPr>
          <p:cNvSpPr txBox="1"/>
          <p:nvPr/>
        </p:nvSpPr>
        <p:spPr>
          <a:xfrm>
            <a:off x="346491" y="86916"/>
            <a:ext cx="8365067" cy="677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#include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4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&lt;iostream&gt;</a:t>
            </a:r>
            <a:endParaRPr lang="en-US" altLang="zh-TW" sz="14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400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#include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4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&lt;string&gt;</a:t>
            </a:r>
            <a:endParaRPr lang="en-US" altLang="zh-TW" sz="14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400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#include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4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</a:t>
            </a:r>
            <a:r>
              <a:rPr lang="en-US" altLang="zh-TW" sz="1400" dirty="0" err="1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sstream</a:t>
            </a:r>
            <a:r>
              <a:rPr lang="en-US" altLang="zh-TW" sz="14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&gt;</a:t>
            </a:r>
            <a:endParaRPr lang="en-US" altLang="zh-TW" sz="14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400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#include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4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&lt;vector&gt;</a:t>
            </a:r>
            <a:endParaRPr lang="en-US" altLang="zh-TW" sz="14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400" dirty="0">
                <a:solidFill>
                  <a:srgbClr val="8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#include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4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&lt;algorithm&gt;</a:t>
            </a:r>
            <a:endParaRPr lang="en-US" altLang="zh-TW" sz="14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4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using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4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namespace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std;</a:t>
            </a:r>
          </a:p>
          <a:p>
            <a:endParaRPr lang="zh-TW" altLang="en-US" sz="14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400" dirty="0">
                <a:solidFill>
                  <a:srgbClr val="2B91A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string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s;</a:t>
            </a:r>
          </a:p>
          <a:p>
            <a:r>
              <a:rPr lang="en-US" altLang="zh-TW" sz="14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int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x;</a:t>
            </a:r>
          </a:p>
          <a:p>
            <a:r>
              <a:rPr lang="en-US" altLang="zh-TW" sz="1400" dirty="0">
                <a:solidFill>
                  <a:srgbClr val="2B91A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vector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&lt;</a:t>
            </a:r>
            <a:r>
              <a:rPr lang="en-US" altLang="zh-TW" sz="14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int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&gt; v;</a:t>
            </a:r>
          </a:p>
          <a:p>
            <a:endParaRPr lang="zh-TW" altLang="en-US" sz="14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4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int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main() {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</a:t>
            </a:r>
            <a:r>
              <a:rPr lang="en-US" altLang="zh-TW" sz="14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while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(</a:t>
            </a:r>
            <a:r>
              <a:rPr lang="en-US" altLang="zh-TW" sz="14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cin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4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&gt;&gt;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x) {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</a:t>
            </a:r>
            <a:r>
              <a:rPr lang="en-US" altLang="zh-TW" sz="14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getline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</a:t>
            </a:r>
            <a:r>
              <a:rPr lang="en-US" altLang="zh-TW" sz="14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cin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, s); </a:t>
            </a:r>
            <a:r>
              <a:rPr lang="en-US" altLang="zh-TW" sz="14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//</a:t>
            </a:r>
            <a:r>
              <a:rPr lang="zh-TW" altLang="en-US" sz="14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它會讀取並丟棄剛才 </a:t>
            </a:r>
            <a:r>
              <a:rPr lang="en-US" altLang="zh-TW" sz="1400" dirty="0" err="1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cin</a:t>
            </a:r>
            <a:r>
              <a:rPr lang="en-US" altLang="zh-TW" sz="14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&gt;&gt; x; </a:t>
            </a:r>
            <a:r>
              <a:rPr lang="zh-TW" altLang="en-US" sz="14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後面剩下的 </a:t>
            </a:r>
            <a:r>
              <a:rPr lang="en-US" altLang="zh-TW" sz="14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\n</a:t>
            </a:r>
            <a:endParaRPr lang="en-US" altLang="zh-TW" sz="14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</a:t>
            </a:r>
            <a:r>
              <a:rPr lang="en-US" altLang="zh-TW" sz="14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getline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</a:t>
            </a:r>
            <a:r>
              <a:rPr lang="en-US" altLang="zh-TW" sz="14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cin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, s); </a:t>
            </a:r>
            <a:r>
              <a:rPr lang="en-US" altLang="zh-TW" sz="14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//</a:t>
            </a:r>
            <a:r>
              <a:rPr lang="zh-TW" altLang="en-US" sz="14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此時</a:t>
            </a:r>
            <a:r>
              <a:rPr lang="en-US" altLang="zh-TW" sz="14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s</a:t>
            </a:r>
            <a:r>
              <a:rPr lang="zh-TW" altLang="en-US" sz="1400" dirty="0">
                <a:solidFill>
                  <a:srgbClr val="008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才是多項式係數</a:t>
            </a:r>
            <a:endParaRPr lang="zh-TW" altLang="en-US" sz="1400" dirty="0">
              <a:solidFill>
                <a:srgbClr val="000000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</a:t>
            </a:r>
            <a:r>
              <a:rPr lang="en-US" altLang="zh-TW" sz="1400" dirty="0" err="1">
                <a:solidFill>
                  <a:srgbClr val="2B91A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stringstream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ss(s);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</a:t>
            </a:r>
            <a:r>
              <a:rPr lang="en-US" altLang="zh-TW" sz="14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v.clear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();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</a:t>
            </a:r>
            <a:r>
              <a:rPr lang="en-US" altLang="zh-TW" sz="14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while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(ss </a:t>
            </a:r>
            <a:r>
              <a:rPr lang="en-US" altLang="zh-TW" sz="14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&gt;&gt;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s) {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    </a:t>
            </a:r>
            <a:r>
              <a:rPr lang="en-US" altLang="zh-TW" sz="14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v.push_back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</a:t>
            </a:r>
            <a:r>
              <a:rPr lang="en-US" altLang="zh-TW" sz="14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stoi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(s));</a:t>
            </a:r>
          </a:p>
          <a:p>
            <a:r>
              <a:rPr lang="zh-TW" altLang="en-US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</a:t>
            </a:r>
            <a:r>
              <a:rPr lang="en-US" altLang="zh-TW" sz="14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v.pop_back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();</a:t>
            </a:r>
          </a:p>
          <a:p>
            <a:r>
              <a:rPr lang="nl-NL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reverse(v.begin(), v.end());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</a:t>
            </a:r>
            <a:r>
              <a:rPr lang="en-US" altLang="zh-TW" sz="14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long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400" dirty="0" err="1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long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4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mul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= 1;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</a:t>
            </a:r>
            <a:r>
              <a:rPr lang="en-US" altLang="zh-TW" sz="14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int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4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ans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= 0;</a:t>
            </a:r>
          </a:p>
          <a:p>
            <a:r>
              <a:rPr lang="nn-NO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</a:t>
            </a:r>
            <a:r>
              <a:rPr lang="nn-NO" altLang="zh-TW" sz="14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for</a:t>
            </a:r>
            <a:r>
              <a:rPr lang="nn-NO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(</a:t>
            </a:r>
            <a:r>
              <a:rPr lang="nn-NO" altLang="zh-TW" sz="1400" dirty="0">
                <a:solidFill>
                  <a:srgbClr val="0000FF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int</a:t>
            </a:r>
            <a:r>
              <a:rPr lang="nn-NO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i = 0; i &lt; v.size(); i++) {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    </a:t>
            </a:r>
            <a:r>
              <a:rPr lang="en-US" altLang="zh-TW" sz="14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ans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+= v</a:t>
            </a:r>
            <a:r>
              <a:rPr lang="en-US" altLang="zh-TW" sz="14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[</a:t>
            </a:r>
            <a:r>
              <a:rPr lang="en-US" altLang="zh-TW" sz="14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</a:t>
            </a:r>
            <a:r>
              <a:rPr lang="en-US" altLang="zh-TW" sz="14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]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* (</a:t>
            </a:r>
            <a:r>
              <a:rPr lang="en-US" altLang="zh-TW" sz="14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i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+ 1) * </a:t>
            </a:r>
            <a:r>
              <a:rPr lang="en-US" altLang="zh-TW" sz="14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mul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    </a:t>
            </a:r>
            <a:r>
              <a:rPr lang="en-US" altLang="zh-TW" sz="14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mul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*= x;</a:t>
            </a:r>
          </a:p>
          <a:p>
            <a:r>
              <a:rPr lang="zh-TW" altLang="en-US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    </a:t>
            </a:r>
            <a:r>
              <a:rPr lang="en-US" altLang="zh-TW" sz="14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cout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4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&lt;&lt;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400" dirty="0" err="1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ans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400" dirty="0">
                <a:solidFill>
                  <a:srgbClr val="00808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&lt;&lt;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</a:t>
            </a:r>
            <a:r>
              <a:rPr lang="en-US" altLang="zh-TW" sz="1400" dirty="0">
                <a:solidFill>
                  <a:srgbClr val="A31515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"\n"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;</a:t>
            </a:r>
          </a:p>
          <a:p>
            <a:r>
              <a:rPr lang="zh-TW" altLang="en-US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    </a:t>
            </a:r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細明體" panose="02020509000000000000" pitchFamily="49" charset="-120"/>
                <a:ea typeface="細明體" panose="02020509000000000000" pitchFamily="49" charset="-120"/>
              </a:rPr>
              <a:t>}</a:t>
            </a:r>
            <a:endParaRPr lang="zh-TW" altLang="en-US" sz="14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9D4B955-FE68-4214-B189-E1CD3FB648B1}"/>
              </a:ext>
            </a:extLst>
          </p:cNvPr>
          <p:cNvSpPr txBox="1"/>
          <p:nvPr/>
        </p:nvSpPr>
        <p:spPr>
          <a:xfrm>
            <a:off x="8871110" y="144079"/>
            <a:ext cx="1413933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dirty="0"/>
              <a:t>7</a:t>
            </a:r>
          </a:p>
          <a:p>
            <a:r>
              <a:rPr lang="zh-TW" altLang="en-US" dirty="0"/>
              <a:t>1 -1</a:t>
            </a:r>
          </a:p>
          <a:p>
            <a:r>
              <a:rPr lang="zh-TW" altLang="en-US" dirty="0"/>
              <a:t>2</a:t>
            </a:r>
          </a:p>
          <a:p>
            <a:r>
              <a:rPr lang="zh-TW" altLang="en-US" dirty="0"/>
              <a:t>1 1 1</a:t>
            </a:r>
            <a:endParaRPr lang="en-US" altLang="zh-TW" dirty="0"/>
          </a:p>
          <a:p>
            <a:r>
              <a:rPr lang="en-US" altLang="zh-TW" dirty="0"/>
              <a:t>2</a:t>
            </a:r>
          </a:p>
          <a:p>
            <a:r>
              <a:rPr lang="en-US" altLang="zh-TW" dirty="0"/>
              <a:t>1 2 3 4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F38361B-5FD4-49E8-B20C-E69A299BE647}"/>
              </a:ext>
            </a:extLst>
          </p:cNvPr>
          <p:cNvSpPr txBox="1"/>
          <p:nvPr/>
        </p:nvSpPr>
        <p:spPr>
          <a:xfrm>
            <a:off x="8871110" y="1957210"/>
            <a:ext cx="418704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dirty="0"/>
              <a:t>1</a:t>
            </a:r>
          </a:p>
          <a:p>
            <a:r>
              <a:rPr lang="en-US" altLang="zh-TW" dirty="0"/>
              <a:t>5</a:t>
            </a:r>
          </a:p>
          <a:p>
            <a:r>
              <a:rPr lang="en-US" altLang="zh-TW" dirty="0"/>
              <a:t>23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3BA5D31-9100-40ED-A066-67F187B6311F}"/>
              </a:ext>
            </a:extLst>
          </p:cNvPr>
          <p:cNvSpPr txBox="1"/>
          <p:nvPr/>
        </p:nvSpPr>
        <p:spPr>
          <a:xfrm>
            <a:off x="8871110" y="3116885"/>
            <a:ext cx="872067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dirty="0"/>
              <a:t>3</a:t>
            </a:r>
          </a:p>
          <a:p>
            <a:r>
              <a:rPr lang="zh-TW" altLang="en-US" dirty="0"/>
              <a:t>2 1 2</a:t>
            </a:r>
          </a:p>
          <a:p>
            <a:r>
              <a:rPr lang="zh-TW" altLang="en-US" dirty="0"/>
              <a:t>1</a:t>
            </a:r>
          </a:p>
          <a:p>
            <a:r>
              <a:rPr lang="zh-TW" altLang="en-US" dirty="0"/>
              <a:t>5</a:t>
            </a:r>
          </a:p>
          <a:p>
            <a:r>
              <a:rPr lang="zh-TW" altLang="en-US" dirty="0"/>
              <a:t>1</a:t>
            </a:r>
          </a:p>
          <a:p>
            <a:r>
              <a:rPr lang="zh-TW" altLang="en-US" dirty="0"/>
              <a:t>5 1 2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2FB741D-CCFE-4CE5-8A6F-E870F421B610}"/>
              </a:ext>
            </a:extLst>
          </p:cNvPr>
          <p:cNvSpPr txBox="1"/>
          <p:nvPr/>
        </p:nvSpPr>
        <p:spPr>
          <a:xfrm>
            <a:off x="8872236" y="5107557"/>
            <a:ext cx="499533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dirty="0"/>
              <a:t>13</a:t>
            </a:r>
          </a:p>
          <a:p>
            <a:r>
              <a:rPr lang="zh-TW" altLang="en-US" dirty="0"/>
              <a:t>0</a:t>
            </a:r>
          </a:p>
          <a:p>
            <a:r>
              <a:rPr lang="zh-TW" altLang="en-US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29307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368</Words>
  <Application>Microsoft Office PowerPoint</Application>
  <PresentationFormat>寬螢幕</PresentationFormat>
  <Paragraphs>79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新細明體</vt:lpstr>
      <vt:lpstr>細明體</vt:lpstr>
      <vt:lpstr>Arial</vt:lpstr>
      <vt:lpstr>Calibri</vt:lpstr>
      <vt:lpstr>Calibri Light</vt:lpstr>
      <vt:lpstr>Office 佈景主題</vt:lpstr>
      <vt:lpstr>程式設計實習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程式設計實習</dc:title>
  <dc:creator>Chen Shang-Kuan</dc:creator>
  <cp:lastModifiedBy>林宸皜</cp:lastModifiedBy>
  <cp:revision>14</cp:revision>
  <dcterms:created xsi:type="dcterms:W3CDTF">2025-02-25T06:45:23Z</dcterms:created>
  <dcterms:modified xsi:type="dcterms:W3CDTF">2025-03-18T09:18:48Z</dcterms:modified>
</cp:coreProperties>
</file>